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146304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114800"/>
            <a:ext cx="8887968" cy="1028700"/>
          </a:xfrm>
          <a:prstGeom prst="rect">
            <a:avLst/>
          </a:prstGeom>
          <a:solidFill>
            <a:srgbClr val="7B1D1D"/>
          </a:solidFill>
          <a:ln w="12700">
            <a:solidFill>
              <a:srgbClr val="7B1D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463040"/>
            <a:ext cx="8887968" cy="36576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37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8B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LOPES MANUFACTURING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600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Plan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0292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B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ITT-321  ·  Cloud Systems Administration &amp; Maintenance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Wyatt Brunner  |  Grand Canyon University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Lopes Manufacturing — designer and manufacturer of high-quality helicopter parts for U.S. military operations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Ensure military equipment performs flawlessly in extreme environments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Office: 240 endpoints, dual firewalls, DMZ, multiple VLANs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Facility: 30 endpoints, connected via Metro Ethernet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services: Web App, Exchange, LDAP, DNS, DHCP, Database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Goals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Cloud Provider: Amazon Web Services (AWS)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scalability and disaster recovery for mission-critical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on-premises hardware maintenance overhead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security posture — especially critical for defense contractor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seamless access across both locations and remote users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Model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Models Explained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— Infrastructure as a Service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virtualized servers, storage, and networking. Customer manages OS, apps, and data. Most flexibility and control. Best for legacy and custom configs.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01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— Platform as a Service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13075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 infrastructure and OS. Customer focuses on application development. Reduces setup time and increases developer productivity.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61488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529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— Software as a Service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applications over the internet. Provider manages everything. Best for email, HR, collaboration tools — maximum convenience.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761488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761488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529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Model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secures physical infrastructure. Customer secures data, access, and configurations. Responsibility shifts as you move from IaaS → PaaS → SaaS.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Model: IaaS (Primary) + PaaS + SaaS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468880" cy="1554480"/>
          </a:xfrm>
          <a:prstGeom prst="rect">
            <a:avLst/>
          </a:prstGeom>
          <a:solidFill>
            <a:srgbClr val="7B1D1D"/>
          </a:solidFill>
          <a:ln w="25400">
            <a:solidFill>
              <a:srgbClr val="C05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B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Provider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822960"/>
            <a:ext cx="5897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(Primary) — AWS EC2 and S3 host core business systems, project files, and virtual servers. Gives Lopes Manufacturing full control over configurations while eliminating physical hardware costs at both locations.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(Development) — AWS Elastic Beanstalk for custom internal applications: parts inventory tracking, supplier portals, and production dashboards tailored to aerospace manufacturing workflows.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(Productivity) — Standard business tools for email, HR, and collaboration where cloud providers deliver maximum convenience with minimal IT overhead.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Migrations</a:t>
            </a:r>
            <a:endParaRPr lang="en-US" sz="3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Services Moving to Cloud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95528"/>
          <a:ext cx="8595360" cy="4114800"/>
        </p:xfrm>
        <a:graphic>
          <a:graphicData uri="http://schemas.openxmlformats.org/drawingml/2006/table">
            <a:tbl>
              <a:tblPr/>
              <a:tblGrid>
                <a:gridCol w="1920240"/>
                <a:gridCol w="2560320"/>
                <a:gridCol w="41148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AWS Service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Reason for Migration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Database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Amazon RDS (MySQL)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Managed backups, auto-scaling, Multi-AZ high availability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Directory / AD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AWS Managed Microsoft AD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Full AD compatibility, hybrid trust relationships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Web Application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AWS EC2 + WordPress + Docker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Scalable hosting, global CDN via CloudFront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File Storage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Amazon S3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Unlimited storage, versioning, SSE-KMS encryption at rest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Email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Amazon WorkMail / SaaS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Replace on-premises Exchange, reduce maintenance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DNS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Amazon Route 53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Managed DNS with health checks and automated failover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Monitoring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Amazon CloudWatch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Centralized logging and alerting across all services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Inventory / Parts Tracking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AWS RDS + EC2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Reliable backend accessible across both facilities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Analysis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Recommendations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— Amazon 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MySQL, PostgreSQL, SQL Server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backups, patching, and Multi-AZ failover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structured data: payroll, parts orders, production schedules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 serve reporting queries without impacting production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database authentication eliminates static passwords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db.t3.medium instance — suitable for Lopes' current workload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— Amazon DynamoDB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managed, serverless — no instance sizing required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latency for high-throughput tracking workloads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parts tracking, sensor logs, session data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capacity scales automatically with demand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Point-in-Time Recovery (PITR) enabled on all tables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tables available if international expansion occurs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Backup &amp; Recovery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PITR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Recovery enabled on all tables. Restore to any second within a 35-day window. Protects against accidental deletes or application errors.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01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Automated Backups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13075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snapshots with up to 35-day retention. Multi-AZ failover provides sub-1-minute RTO for database layer failures. Manual snapshots before major deployments.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61488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529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Versioning &amp; Glacier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S3 buckets configured with versioning. Previous versions retrievable at any time. Long-term archive to S3 Glacier reduces storage costs.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761488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761488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529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Testing &amp; Automation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DR drills validate restore procedures. AWS CloudShell scripts automate bulk data restore. ARN-based resource identification for precise targeting.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Services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Services Analysis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Active Directory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Kerberos/NTLM/LDAP support. Self-managed servers. Total control but heavy maintenance overhead. Not suitable for cloud-first strategy.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01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(Azure AD)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13075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identity for SaaS apps. OAuth/SAML protocols. AI-driven MFA and conditional access. Does not natively support legacy Kerberos/LDAP apps.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61488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529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Domain Services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domain with Kerberos/NTLM support. Designed for lift-and-shift in Azure. Limited admin rights. Transitional solution only — not AWS-native.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761488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761488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529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 Microsoft AD  ✓  Recommended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Windows AD hosted by AWS. Supports schema extensions and forest trusts. Ideal for hybrid environments. Best compatibility with Lopes' AD-dependent manufacturing systems.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 Microsoft AD — Recommendation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genuine Windows Server Active Directory hosted and managed by AWS — not a custom cloud-only approximation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Kerberos, NTLM, and LDAP — critical for legacy manufacturing and defense contractor software at Lopes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trust relationships allow employees to use existing domain credentials to access cloud resources without re-authentication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extensions supported — required for complex enterprise AD configurations unlike Azure AD 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compatibility: integrates with on-premises AD at Main Office and AWS-hosted workloads simultaneously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across both Lopes locations (Main Office + Manufacturing Facility) without additional on-premises server infrastructure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AWS administration required, but provides the deep AD control that a defense manufacturing environment demands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Analysis</a:t>
            </a:r>
            <a:endParaRPr lang="en-US" sz="3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&amp; Implementing Common OS on AWS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(RHEL / Amazon Linux 2023)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Server and DNS already running RHEL in on-premises environment — direct lift to EC2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2023 AMI preferred for new EC2 workloads: optimized for AWS, free, long-term support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AMIs available on AWS Marketplace for workloads requiring enterprise support contracts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Image Builder automates OS hardening, patching, and AMI creation on a defined schedule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Systems Manager Patch Manager enforces OS patch compliance across all Linux instances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and Email (Exchange) servers currently on RHEL/Ubuntu — migrate DHCP to AWS-managed DHCP within VPC; Exchange to Amazon WorkMail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AMIs available for any AD-integrated or legacy Windows applications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License Manager tracks Windows Server licenses and ensures compliance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sizing recommendation: t3.medium for standard workloads; t3.large for database and AD servers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inventory and compliance reported via AWS Systems Manager Inventory — dashboards show OS versions, patch state, and configuration drift across all instances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Hosting</a:t>
            </a:r>
            <a:endParaRPr lang="en-US" sz="3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Hosting on AWS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Full-Stack (WordPress + EC2 + Docker)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 (Amazon Linux 2023) running Apache/Nginx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deployed via Docker container for portability and easy version management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(MySQL) as the WordPress database backend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CDN for global content delivery and edge caching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via AWS Certificate Manager (ACM) — free managed certificates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 maintains uptime during traffic spikes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Sites &amp; Internal Portals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Static Website Hosting for lightweight pages and documentation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management required — fully managed by AWS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distribution for HTTPS enforcement and performance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for DNS routing with health-check-based failover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company intranet, parts catalogs, and project documentation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cost for low-traffic static content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Encryption</a:t>
            </a:r>
            <a:endParaRPr lang="en-US" sz="3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Encryption Models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SSE-S3 — AWS Managed Keys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handles all encryption using AES-256. No customer key management required. Best for standard workloads without strict compliance mandates.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01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SSE-KMS — AWS Key Management Service  ✓  Recommended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13075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managed via AWS KMS. Customer controls key policies, rotation, and access. Full audit trail via CloudTrail. Required for defense contractor data compliance.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61488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529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SSE-C — Customer Provided Keys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supplies key per upload. AWS discards after operation. Maximum key ownership — but key loss means permanent data loss. Highest complexity.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761488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761488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529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transit protected by HTTPS/TLS automatically. IAM policies enforce least-privilege access. Shared Responsibility Model defines customer vs. AWS duties.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Recommendation — SSE-KMS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SSE-KMS strikes the right balance between strong security, regulatory compliance, and operational manageability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critical for Lopes Manufacturing: proprietary helicopter component designs and U.S. military contract data require rigorous access controls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Customer-controlled key policies define exactly who can decrypt which datasets — essential for compartmentalization in a defense environment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key rotation on a defined schedule reduces risk of key compromise without manual administrator intervention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usage event logged to AWS CloudTrail — provides full audit trail for security reviews and compliance reporting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S3 buckets at Lopes Manufacturing configured with SSE-KMS as the enforced default encryption policy at bucket creation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Level Security</a:t>
            </a:r>
            <a:endParaRPr lang="en-US" sz="3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Network Security Infrastructure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&amp; Access Controls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mirrors existing VLAN segmentation: Data, VoIP, Management, DMZ, Guest Wireless subnets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act as stateful firewalls per EC2 instance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ACLs provide stateless subnet-level packet filtering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 protects the public-facing web application from OWASP threats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Gateway securely connects both Lopes locations to AWS over encrypted tunnels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&amp; Threat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enforces least-privilege access across all services and accounts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required for all AWS Management Console and admin access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GuardDuty provides continuous threat detection and anomaly alerting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Shield Standard delivers DDoS protection at no additional cost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Flow Logs capture all network traffic for forensic analysis and incident response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Management</a:t>
            </a:r>
            <a:endParaRPr lang="en-US" sz="3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CloudWatch &amp; Monitoring Strategy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monitoring for all AWS resources. Dashboards show CPU, memory, network, and storage metrics in real time. Alarms trigger SNS notifications on threshold breaches.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01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CloudTrail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13075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API call in the AWS environment. Enables security auditing, change tracking, and compliance reporting. Integrated with S3 for long-term log retention.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61488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529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Systems Manager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patching, configuration, and compliance checks across all EC2 instances. Session Manager provides secure shell access without opening inbound SSH/RDP ports.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761488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761488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529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&amp; Cost Automation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CloudFormation automates VM, database, and storage provisioning. Cost Explorer and AWS Budgets alert on spend thresholds. Terraform supported as an alternative IaC tool.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Print Services</a:t>
            </a:r>
            <a:endParaRPr lang="en-US" sz="3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Network &amp; Print Services (FNPS)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serves as the primary cloud file storage, replacing on-premises file shares with versioned, encrypted, and replicated storage accessible from both locations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Storage Gateway (SMB File Gateway) bridges on-premises systems and S3, presenting cloud storage as a local mapped network drive — no workflow changes for employees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FSx for Windows File Server provides a fully managed Windows file system for workloads requiring native NTFS permissions and DFS namespace support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and AWS Managed Microsoft AD control file share access, preserving existing permission structures and user group policies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services remain on-premises using existing infrastructure; PrinterLogic or similar cloud-connected tools can manage print queues across both sites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 access is logged via CloudTrail; S3 bucket policies enforce encryption at rest (SSE-KMS) and block public access by default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3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Inventory &amp; Tracking — Cloud Architecture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 (AWS RDS)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(MySQL) hosts the inventory and parts tracking database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deployment ensures no single point of failure for production data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backups with 35-day retention period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 serve reporting and analytics without impacting production DB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database authentication eliminates static credential risk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Application Layer (AWS EC2)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 host the inventory management web application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Main Office, Manufacturing Facility, and authorized remote users via VPN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Balancer distributes traffic across multiple application servers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adjusts capacity during peak production and contract periods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enforced via ACM certificates; all data encrypted in transit and at rest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Skills Analysis</a:t>
            </a:r>
            <a:endParaRPr lang="en-US" sz="3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Skills — Diversity, Effectiveness &amp; Responsiveness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creates geographically distributed teams — leadership must bridge communication gaps between the Main Office and Manufacturing Facility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role-based access ensures equitable, permission-appropriate access for all staff regardless of location or seniority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migration teams include IT, operations, engineering, and management — diverse perspectives reduce blind spots in planning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programs designed to bring employees at all technical levels up to speed on AWS tools and cloud workflows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4069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2296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961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&amp; Responsiveness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leadership establishes clear escalation paths: CloudWatch alarms → on-call engineer → department lead → executive notification within defined SLA windows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migration phases allow leadership to respond quickly to technical setbacks without halting the entire project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 review cycles: monthly KPI dashboards (uptime, cost, security incidents) keep leadership informed and accountable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Backout plan authority clearly assigned — designated decision-maker can trigger rollback without committee approval to minimize downtime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Backout Plan</a:t>
            </a:r>
            <a:endParaRPr lang="en-US" sz="3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Backout Plan — Trigger Points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Service Failure (Immediate)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Tier-1 service (AD, Database, Web App) unavailable for &gt;4 hours during migration triggers immediate rollback to on-premises systems.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868680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01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Failure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13075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post-migration database checksums do not match, halt all cutover and restore from the pre-migration snapshot taken within 24 hours of go-live.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61488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529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Breach During Migration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detected unauthorized access during the migration window triggers immediate service isolation, rollback of affected components, and incident response activation.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761488"/>
            <a:ext cx="4160520" cy="1783080"/>
          </a:xfrm>
          <a:prstGeom prst="rect">
            <a:avLst/>
          </a:prstGeom>
          <a:solidFill>
            <a:srgbClr val="2B2B2B"/>
          </a:solidFill>
          <a:ln w="12700">
            <a:solidFill>
              <a:srgbClr val="5C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761488"/>
            <a:ext cx="4160520" cy="54864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529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Timeline Overrun (Phase Gate)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phase exceeds 150% of planned time or cost, escalate to leadership. Pause migration and reassess scope before proceeding to the next phase.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Backout Plan — Process &amp; Downtime Estimates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 All on-premises systems remain live and fully synced during migration. No data decommissioned until cloud services are validated for 72 hours post-cutover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BACKUPS: Pre-migration snapshots taken for all databases (RDS, DynamoDB), file systems (S3), and AD. Retained for minimum 30 days post-migration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ORDER: 1) DNS failback via Route 53 (TTL ≤ 5 min) → 2) Database restore from snapshot → 3) AD trust re-pointed to on-premises → 4) Web app traffic redirected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DOWNTIME: DNS failback ~5 minutes | Database restore ~30–60 minutes | Full environment rollback estimated 2–4 hours maximum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PROTOCOL: IT lead notifies all department heads immediately on backout trigger. Status updates every 30 minutes until service restored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POST-INCIDENT: Root cause analysis completed within 5 business days. Migration plan revised and leadership-approved before any retry attempt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7B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Cost Control</a:t>
            </a:r>
            <a:endParaRPr lang="en-US" sz="3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AWS Budget</a:t>
            </a:r>
            <a:endParaRPr lang="en-US" sz="2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95528"/>
          <a:ext cx="8595360" cy="41148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1828800"/>
                <a:gridCol w="19202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AWS Service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Est. Monthly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Est. Annual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Compute (Web + App)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EC2 t3.medium ×2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$140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$1,680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Database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RDS db.t3.medium Multi-AZ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$180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$2,160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NoSQL / Parts Tracking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DynamoDB On-Demand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$60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$720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Directory Services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AWS Managed Microsoft AD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$144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$1,728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Storage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S3 Standard + Glacier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$50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$600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Security &amp; Monitoring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GuardDuty + CloudWatch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$80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$960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VPN &amp; Networking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VPN Gateway + Route 53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$70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$840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Encryption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AWS KMS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$20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EDE8"/>
                          </a:solidFill>
                        </a:rPr>
                        <a:t>$240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4832A"/>
                          </a:solidFill>
                        </a:rPr>
                        <a:t>TOTAL ESTIMATED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4832A"/>
                          </a:solidFill>
                        </a:rPr>
                        <a:t>$744 / mo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4832A"/>
                          </a:solidFill>
                        </a:rPr>
                        <a:t>$8,928 / yr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Control Recommendations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321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Instances: Commit to 1–3 year terms on predictable workloads (EC2, RDS) for up to 72% savings versus on-demand pricing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Savings Plans: Flexible compute savings plan covers EC2, Fargate, and Lambda across any region — up to 66% reduction in compute costs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Scaling: Scale EC2 instances down during off-hours (nights and weekends) — manufacturing workloads are predictable and can be scheduled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Intelligent Tiering: Automatically moves infrequently accessed parts documentation to cheaper storage tiers without performance impact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Cost Explorer &amp; Budgets: Set monthly spend alerts; review top services weekly. Tag all resources by department for cost allocation and chargeback visibility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Rightsizing: Use AWS Compute Optimizer recommendations quarterly to downsize over-provisioned EC2 and RDS instances as workloads stabilize post-migration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&amp; Dev Environments: Leverage AWS Free Tier for development and testing environments to avoid paying for non-production resources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822960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4069080"/>
            <a:ext cx="8887968" cy="1074420"/>
          </a:xfrm>
          <a:prstGeom prst="rect">
            <a:avLst/>
          </a:prstGeom>
          <a:solidFill>
            <a:srgbClr val="7B1D1D"/>
          </a:solidFill>
          <a:ln w="12700">
            <a:solidFill>
              <a:srgbClr val="7B1D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22960"/>
            <a:ext cx="8887968" cy="36576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321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0EDE8"/>
                </a:solidFill>
              </a:rPr>
              <a:t>Lopes Manufacturing's migration to AWS is a strategic investment in the reliability and security of defense-critical manufacturing operations. By adopting IaaS as the primary model, the organization gains full control over core workloads while eliminating costly hardware maintenance across two locations.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0EDE8"/>
                </a:solidFill>
              </a:rPr>
              <a:t>AWS Managed Microsoft AD preserves directory compatibility with existing systems. SSE-KMS protects sensitive helicopter design data and military contract information. CloudWatch and GuardDuty deliver end-to-end visibility. A phased migration with a fully tested backout plan ensures risk is minimized at every step.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</a:rPr>
              <a:t>Effective cloud leadership — built on diversity, clear accountability, and rapid responsiveness — ensures this migration delivers lasting value to Lopes Manufacturing and the service members who depend on its products.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D4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AWS-First. Secure by Design. Mission Ready.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010"/>
          </a:solidFill>
          <a:ln w="12700">
            <a:solidFill>
              <a:srgbClr val="5C1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0531A"/>
          </a:solidFill>
          <a:ln w="12700">
            <a:solidFill>
              <a:srgbClr val="C05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D4832A"/>
          </a:solidFill>
          <a:ln w="12700">
            <a:solidFill>
              <a:srgbClr val="D4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" y="795528"/>
            <a:ext cx="8412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Services. (n.d.). Shared responsibility model. https://aws.amazon.com/compliance/shared-responsibility-model/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Services. (n.d.). AWS Managed Microsoft AD. https://aws.amazon.com/directoryservice/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Services. (n.d.). Protecting data with server-side encryption. https://docs.aws.amazon.com/AmazonS3/latest/userguide/serv-side-encryption.html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Services. (n.d.). Amazon RDS documentation. https://docs.aws.amazon.com/rds/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Services. (n.d.). AWS Elastic Beanstalk documentation. https://docs.aws.amazon.com/elastic-beanstalk/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Services. (n.d.). Amazon DynamoDB PITR. https://docs.aws.amazon.com/amazondynamodb/latest/developerguide/PointInTimeRecovery.html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Services. (n.d.). Amazon EC2 AMIs. https://docs.aws.amazon.com/AWSEC2/latest/UserGuide/AMIs.html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Services. (n.d.). AWS Systems Manager. https://docs.aws.amazon.com/systems-manager/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 (n.d.). IaaS vs PaaS vs SaaS. https://www.ibm.com/topics/iaas-paas-saas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(n.d.). Microsoft Entra ID. https://docs.azure.cn/en-us/entra/fundamentals/what-is-entra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 (2025). Claude Sonnet 4.6 [Large language model]. https://www.anthropic.com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Lopes Manufacturing Cloud Migration Plan</dc:title>
  <dc:subject>PptxGenJS Presentation</dc:subject>
  <dc:creator>Wyatt Brunner</dc:creator>
  <cp:lastModifiedBy>Wyatt Brunner</cp:lastModifiedBy>
  <cp:revision>1</cp:revision>
  <dcterms:created xsi:type="dcterms:W3CDTF">2026-04-26T21:52:31Z</dcterms:created>
  <dcterms:modified xsi:type="dcterms:W3CDTF">2026-04-26T21:52:31Z</dcterms:modified>
</cp:coreProperties>
</file>